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128016"/>
            <a:ext cx="3322015" cy="6729984"/>
          </a:xfrm>
          <a:prstGeom prst="rect">
            <a:avLst/>
          </a:prstGeom>
          <a:solidFill>
            <a:srgbClr val="0E3252"/>
          </a:solidFill>
          <a:ln/>
        </p:spPr>
      </p:sp>
      <p:sp>
        <p:nvSpPr>
          <p:cNvPr id="4" name="Shape 2"/>
          <p:cNvSpPr/>
          <p:nvPr/>
        </p:nvSpPr>
        <p:spPr>
          <a:xfrm>
            <a:off x="10012680" y="2423160"/>
            <a:ext cx="1371600" cy="1371600"/>
          </a:xfrm>
          <a:prstGeom prst="ellipse">
            <a:avLst/>
          </a:prstGeom>
          <a:solidFill>
            <a:srgbClr val="1B6CA8"/>
          </a:solidFill>
          <a:ln/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296" y="2779776"/>
            <a:ext cx="658368" cy="6583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89720" y="3794760"/>
            <a:ext cx="1005840" cy="1005840"/>
          </a:xfrm>
          <a:prstGeom prst="ellipse">
            <a:avLst/>
          </a:prstGeom>
          <a:solidFill>
            <a:srgbClr val="2A9D8F"/>
          </a:solidFill>
          <a:ln/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1238" y="4056278"/>
            <a:ext cx="482803" cy="4828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698480" y="3840480"/>
            <a:ext cx="914400" cy="914400"/>
          </a:xfrm>
          <a:prstGeom prst="ellipse">
            <a:avLst/>
          </a:prstGeom>
          <a:solidFill>
            <a:srgbClr val="E9A23B"/>
          </a:solidFill>
          <a:ln/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224" y="4078224"/>
            <a:ext cx="438912" cy="43891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40080" y="1371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AI FOUNDRY  ·  MULTI-AGENT REFERENCE SOLUTION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594360" y="187452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MMC Multi-Agent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Manufacturing Assistant</a:t>
            </a:r>
            <a:endParaRPr lang="en-US" sz="4600" dirty="0"/>
          </a:p>
        </p:txBody>
      </p:sp>
      <p:sp>
        <p:nvSpPr>
          <p:cNvPr id="12" name="Text 7"/>
          <p:cNvSpPr/>
          <p:nvPr/>
        </p:nvSpPr>
        <p:spPr>
          <a:xfrm>
            <a:off x="640080" y="39776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Magentic manager turns one plant-floor question into a plan — then dispatches a network of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portal-managed Foundry prompt agents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grounded in policy docs and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Azure SQL rows.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  ·  v1.0  ·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201168" cy="20116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846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A2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624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question in. A cited, ledger-grounded answer out.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user asks a real manufacturing question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e.g. “an open PO for a brake-caliper part is flagged At Risk; which Plant 7 Line 1 PM tasks use it, and is there a backup supplier?”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Magentic manager decomposes it into a plan, picks the right specialists from a pool of 10 agents, dispatches them in sequence or parallel, watches every output, replans when a path dead-ends, and synthesizes a final answer </a:t>
            </a:r>
            <a:pPr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citations down to the individual SQL row.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43434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plan, hop, and replan streams live to a FastAPI + SSE trace UI — the orchestration is watchable in real time.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0" y="960120"/>
            <a:ext cx="3840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0" y="960120"/>
            <a:ext cx="109728" cy="1554480"/>
          </a:xfrm>
          <a:prstGeom prst="rect">
            <a:avLst/>
          </a:prstGeom>
          <a:solidFill>
            <a:srgbClr val="1B6CA8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1234440"/>
            <a:ext cx="658368" cy="6583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46720" y="1124712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6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8065008" y="18928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portal-managed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prompt agents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772400" y="2715768"/>
            <a:ext cx="3840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772400" y="2715768"/>
            <a:ext cx="109728" cy="1554480"/>
          </a:xfrm>
          <a:prstGeom prst="rect">
            <a:avLst/>
          </a:prstGeom>
          <a:solidFill>
            <a:srgbClr val="2A9D8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9008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46720" y="28803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4400" dirty="0"/>
          </a:p>
        </p:txBody>
      </p:sp>
      <p:sp>
        <p:nvSpPr>
          <p:cNvPr id="17" name="Text 13"/>
          <p:cNvSpPr/>
          <p:nvPr/>
        </p:nvSpPr>
        <p:spPr>
          <a:xfrm>
            <a:off x="8065008" y="364845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(plant + ent.)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772400" y="4471416"/>
            <a:ext cx="3840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772400" y="4471416"/>
            <a:ext cx="109728" cy="1554480"/>
          </a:xfrm>
          <a:prstGeom prst="rect">
            <a:avLst/>
          </a:prstGeom>
          <a:solidFill>
            <a:srgbClr val="E9A23B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4745736"/>
            <a:ext cx="658368" cy="65836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046720" y="4636008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283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065008" y="54041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SQL rows across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change-tracked tables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Mobility Components  ·  Multi-Agent Manufacturing Demo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6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201168" cy="20116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846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A2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800" b="1" dirty="0">
                <a:solidFill>
                  <a:srgbClr val="1624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tiers, one source of truth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derives from a single profile.yaml — agents, knowledge sources, and tools all live in one place.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84448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57400"/>
            <a:ext cx="3584448" cy="91440"/>
          </a:xfrm>
          <a:prstGeom prst="rect">
            <a:avLst/>
          </a:prstGeom>
          <a:solidFill>
            <a:srgbClr val="1B6CA8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" y="2423160"/>
            <a:ext cx="914400" cy="914400"/>
          </a:xfrm>
          <a:prstGeom prst="ellipse">
            <a:avLst/>
          </a:prstGeom>
          <a:solidFill>
            <a:srgbClr val="1B6CA8"/>
          </a:solidFill>
          <a:ln/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660904"/>
            <a:ext cx="438912" cy="4389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920240" y="2468880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6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1576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Orchestrator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59536" y="3520440"/>
            <a:ext cx="3035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manager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59536" y="393192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the question into a plan</a:t>
            </a:r>
            <a:endParaRPr lang="en-US" sz="12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agents, watches the ledger, replans</a:t>
            </a:r>
            <a:endParaRPr lang="en-US" sz="12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(gpt-5.4) + workers (gpt-5.4-mini) on separate deployments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89120" y="2057400"/>
            <a:ext cx="3584448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89120" y="2057400"/>
            <a:ext cx="3584448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Shape 13"/>
          <p:cNvSpPr/>
          <p:nvPr/>
        </p:nvSpPr>
        <p:spPr>
          <a:xfrm>
            <a:off x="4681728" y="2423160"/>
            <a:ext cx="914400" cy="914400"/>
          </a:xfrm>
          <a:prstGeom prst="ellipse">
            <a:avLst/>
          </a:prstGeom>
          <a:solidFill>
            <a:srgbClr val="2A9D8F"/>
          </a:solidFill>
          <a:ln/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2660904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760720" y="2468880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760720" y="271576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4700016" y="3520440"/>
            <a:ext cx="3035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Foundry prompt agents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4700016" y="393192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Portal-managed PromptAgentDefinitions — visible &amp; editable in Foundry</a:t>
            </a:r>
            <a:endParaRPr lang="en-US" sz="12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plant + 5 enterprise specialists</a:t>
            </a:r>
            <a:endParaRPr lang="en-US" sz="12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knowledge baked in as an MCP tool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8229600" y="2057400"/>
            <a:ext cx="3584448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229600" y="2057400"/>
            <a:ext cx="3584448" cy="9144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24" name="Shape 20"/>
          <p:cNvSpPr/>
          <p:nvPr/>
        </p:nvSpPr>
        <p:spPr>
          <a:xfrm>
            <a:off x="8522208" y="2423160"/>
            <a:ext cx="914400" cy="914400"/>
          </a:xfrm>
          <a:prstGeom prst="ellipse">
            <a:avLst/>
          </a:prstGeom>
          <a:solidFill>
            <a:srgbClr val="E9A23B"/>
          </a:solidFill>
          <a:ln/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2660904"/>
            <a:ext cx="438912" cy="438912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601200" y="2468880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3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9601200" y="271576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</a:t>
            </a:r>
            <a:endParaRPr lang="en-US" sz="2200" dirty="0"/>
          </a:p>
        </p:txBody>
      </p:sp>
      <p:sp>
        <p:nvSpPr>
          <p:cNvPr id="28" name="Text 23"/>
          <p:cNvSpPr/>
          <p:nvPr/>
        </p:nvSpPr>
        <p:spPr>
          <a:xfrm>
            <a:off x="8540496" y="3520440"/>
            <a:ext cx="3035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+ Azure SQL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540496" y="393192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docs (SOPs, OEM manuals) via doc index</a:t>
            </a:r>
            <a:endParaRPr lang="en-US" sz="12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operational rows via IndexedSqlKnowledgeSource</a:t>
            </a:r>
            <a:endParaRPr lang="en-US" sz="12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Managed-identity auth + SQL change tracking</a:t>
            </a:r>
            <a:endParaRPr lang="en-US" sz="1250" dirty="0"/>
          </a:p>
        </p:txBody>
      </p:sp>
      <p:sp>
        <p:nvSpPr>
          <p:cNvPr id="30" name="Text 2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Mobility Components  ·  Multi-Agent Manufacturing Demo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6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201168" cy="20116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931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A2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24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architecture — Container view (C4 L2)</a:t>
            </a:r>
            <a:endParaRPr lang="en-US" sz="2400" dirty="0"/>
          </a:p>
        </p:txBody>
      </p:sp>
      <p:pic>
        <p:nvPicPr>
          <p:cNvPr id="5" name="Image 0" descr="mmc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608" y="1481328"/>
            <a:ext cx="10698480" cy="671830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6608" y="1481328"/>
            <a:ext cx="10698480" cy="6718307"/>
          </a:xfrm>
          <a:prstGeom prst="rect">
            <a:avLst/>
          </a:prstGeom>
          <a:ln w="12700">
            <a:solidFill>
              <a:srgbClr val="DCE5E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Mobility Components  ·  Multi-Agent Manufacturing Demo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6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201168" cy="20116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846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A2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 NETWORK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624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 specialists across two Foundry projects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864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5486400" cy="841248"/>
          </a:xfrm>
          <a:prstGeom prst="rect">
            <a:avLst/>
          </a:prstGeom>
          <a:solidFill>
            <a:srgbClr val="1B6CA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02082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9888" y="19110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mmc-plant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389888" y="2267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7 floor operations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59536" y="28072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plant7-ehs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017520" y="28072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· machine guarding · incidents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13232" y="3410712"/>
            <a:ext cx="5157216" cy="62179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3" name="Text 10"/>
          <p:cNvSpPr/>
          <p:nvPr/>
        </p:nvSpPr>
        <p:spPr>
          <a:xfrm>
            <a:off x="859536" y="34472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plant7-maintenance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017520" y="34472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schedules · work orders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59536" y="40873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plant7-quality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3017520" y="40873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NCR/CAPA · QA specs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13232" y="4690872"/>
            <a:ext cx="5157216" cy="62179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8" name="Text 15"/>
          <p:cNvSpPr/>
          <p:nvPr/>
        </p:nvSpPr>
        <p:spPr>
          <a:xfrm>
            <a:off x="859536" y="47274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plant7-shiftops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017520" y="47274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changeover · shift handover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59536" y="53675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plant7-training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017520" y="53675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LOTO certs · competency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675120" y="1783080"/>
            <a:ext cx="54864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675120" y="1783080"/>
            <a:ext cx="5486400" cy="841248"/>
          </a:xfrm>
          <a:prstGeom prst="rect">
            <a:avLst/>
          </a:prstGeom>
          <a:solidFill>
            <a:srgbClr val="2A9D8F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2020824"/>
            <a:ext cx="384048" cy="38404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516368" y="19110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mmc-enterprise</a:t>
            </a:r>
            <a:endParaRPr lang="en-US" sz="1900" dirty="0"/>
          </a:p>
        </p:txBody>
      </p:sp>
      <p:sp>
        <p:nvSpPr>
          <p:cNvPr id="26" name="Text 22"/>
          <p:cNvSpPr/>
          <p:nvPr/>
        </p:nvSpPr>
        <p:spPr>
          <a:xfrm>
            <a:off x="7516368" y="2267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Cross-plant enterprise functions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6986016" y="28072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ent-supply-chain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9144000" y="28072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· logistics · BOM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6839712" y="3410712"/>
            <a:ext cx="5157216" cy="62179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0" name="Text 26"/>
          <p:cNvSpPr/>
          <p:nvPr/>
        </p:nvSpPr>
        <p:spPr>
          <a:xfrm>
            <a:off x="6986016" y="34472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ent-procurement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9144000" y="34472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· contracts · should-cost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6986016" y="40873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ent-engineering-plm</a:t>
            </a:r>
            <a:endParaRPr lang="en-US" sz="1250" dirty="0"/>
          </a:p>
        </p:txBody>
      </p:sp>
      <p:sp>
        <p:nvSpPr>
          <p:cNvPr id="33" name="Text 29"/>
          <p:cNvSpPr/>
          <p:nvPr/>
        </p:nvSpPr>
        <p:spPr>
          <a:xfrm>
            <a:off x="9144000" y="40873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 · part numbering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6839712" y="4690872"/>
            <a:ext cx="5157216" cy="62179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5" name="Text 31"/>
          <p:cNvSpPr/>
          <p:nvPr/>
        </p:nvSpPr>
        <p:spPr>
          <a:xfrm>
            <a:off x="6986016" y="47274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ent-quality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9144000" y="47274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 · recall thresholds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6986016" y="53675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ent-demand-program</a:t>
            </a:r>
            <a:endParaRPr lang="en-US" sz="1250" dirty="0"/>
          </a:p>
        </p:txBody>
      </p:sp>
      <p:sp>
        <p:nvSpPr>
          <p:cNvPr id="38" name="Text 34"/>
          <p:cNvSpPr/>
          <p:nvPr/>
        </p:nvSpPr>
        <p:spPr>
          <a:xfrm>
            <a:off x="9144000" y="53675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programs · allocation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548640" y="6199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 merges both pools into one participant set of up to 10 — each scenario whitelists only the agents it needs.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Mobility Components  ·  Multi-Agent Manufacturing Demo</a:t>
            </a:r>
            <a:endParaRPr lang="en-US" sz="900" dirty="0"/>
          </a:p>
        </p:txBody>
      </p:sp>
      <p:sp>
        <p:nvSpPr>
          <p:cNvPr id="41" name="Text 3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6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201168" cy="20116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846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A2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 IN TRUTH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624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kinds of knowledge, deliberately split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864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2834640"/>
          </a:xfrm>
          <a:prstGeom prst="rect">
            <a:avLst/>
          </a:prstGeom>
          <a:solidFill>
            <a:srgbClr val="1B6CA8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093976"/>
            <a:ext cx="868680" cy="868680"/>
          </a:xfrm>
          <a:prstGeom prst="ellipse">
            <a:avLst/>
          </a:prstGeom>
          <a:solidFill>
            <a:srgbClr val="1B6CA8"/>
          </a:solidFill>
          <a:ln/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319833"/>
            <a:ext cx="416966" cy="41696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20240" y="211226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Policy documents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5328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searchIndex · doc indexer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315468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OEM manuals, regulatory &amp; quality docs</a:t>
            </a:r>
            <a:endParaRPr lang="en-US" sz="12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/ PDF pushed to Azure AI Search</a:t>
            </a:r>
            <a:endParaRPr lang="en-US" sz="12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the “how / why / per-procedure” questions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675120" y="1783080"/>
            <a:ext cx="54864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675120" y="1783080"/>
            <a:ext cx="109728" cy="283464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14" name="Shape 11"/>
          <p:cNvSpPr/>
          <p:nvPr/>
        </p:nvSpPr>
        <p:spPr>
          <a:xfrm>
            <a:off x="6995160" y="2093976"/>
            <a:ext cx="868680" cy="868680"/>
          </a:xfrm>
          <a:prstGeom prst="ellipse">
            <a:avLst/>
          </a:prstGeom>
          <a:solidFill>
            <a:srgbClr val="E9A23B"/>
          </a:solidFill>
          <a:ln/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1017" y="2319833"/>
            <a:ext cx="416966" cy="41696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46720" y="211226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Operational rows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8046720" y="25328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IndexedSqlKnowledgeSource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040880" y="315468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PM, incidents, suppliers, POs</a:t>
            </a:r>
            <a:endParaRPr lang="en-US" sz="12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live from Azure SQL, PK as document key</a:t>
            </a:r>
            <a:endParaRPr lang="en-US" sz="12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discrete, cited rows — listed verbatim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548640" y="4892040"/>
            <a:ext cx="11064240" cy="1325880"/>
          </a:xfrm>
          <a:prstGeom prst="rect">
            <a:avLst/>
          </a:prstGeom>
          <a:solidFill>
            <a:srgbClr val="0B2942"/>
          </a:solidFill>
          <a:ln/>
          <a:effectLst>
            <a:outerShdw sx="100000" sy="100000" kx="0" ky="0" algn="bl" rotWithShape="0" blurRad="114300" dist="38100" dir="5400000">
              <a:srgbClr val="0B2942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48640" y="4892040"/>
            <a:ext cx="128016" cy="1325880"/>
          </a:xfrm>
          <a:prstGeom prst="rect">
            <a:avLst/>
          </a:prstGeom>
          <a:solidFill>
            <a:srgbClr val="E9A23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230368"/>
            <a:ext cx="640080" cy="6400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691640" y="50749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2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split docs from rows?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1691640" y="541324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same data lived in both, the agent paraphrased a doc chunk instead of citing the row — and replanned to max_rounds. Splitting row data into a SQL knowledge source made retrieval return exact, cited rows. That one change made the demo trustworthy.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Mobility Components  ·  Multi-Agent Manufacturing Demo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6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201168" cy="20116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846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A2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1624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a one-agent spot-check to a ten-agent fan-out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879592"/>
                <a:gridCol w="128016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Scenario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shows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9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Agents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9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Scale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94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6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training_gap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LOTO certs expiring — cites Training_Log 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hop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6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po_status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POs flagged At Risk — cites po_spend 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hop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6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pm_check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1 PMs with follow-up work orders this quarter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hop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6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supplier_risk_pm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At-risk PO → dependent PMs → backup supplier (cross-KB)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6–10 hops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6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loto_cluster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L1 Press near-misses → escalate to ent. quality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 hops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6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brake_caliper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fan-out: delay impact, mitigation, cost + replan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hops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code, same agents, same data. </a:t>
            </a:r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participant whitelist and max_rounds change — the network scales from a trivial lookup to a full multi-agent investigation.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Mobility Components  ·  Multi-Agent Manufacturing Demo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6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795528"/>
            <a:ext cx="201168" cy="20116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7132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A2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blueprint for trustworthy, watchable agent networks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5394960" cy="1572768"/>
          </a:xfrm>
          <a:prstGeom prst="rect">
            <a:avLst/>
          </a:prstGeom>
          <a:solidFill>
            <a:srgbClr val="0E3252"/>
          </a:solidFill>
          <a:ln w="12700">
            <a:solidFill>
              <a:srgbClr val="1C4A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624328"/>
            <a:ext cx="841248" cy="841248"/>
          </a:xfrm>
          <a:prstGeom prst="ellipse">
            <a:avLst/>
          </a:prstGeom>
          <a:solidFill>
            <a:srgbClr val="13314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836" y="2843052"/>
            <a:ext cx="403799" cy="40379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20240" y="2587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Cited, not paraphrased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920240" y="2990088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B9C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SQL grounding means every claim traces to a specific record — recall thresholds and at-risk POs you can trust.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2331720"/>
            <a:ext cx="5394960" cy="1572768"/>
          </a:xfrm>
          <a:prstGeom prst="rect">
            <a:avLst/>
          </a:prstGeom>
          <a:solidFill>
            <a:srgbClr val="0E3252"/>
          </a:solidFill>
          <a:ln w="12700">
            <a:solidFill>
              <a:srgbClr val="1C4A7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19672" y="2624328"/>
            <a:ext cx="841248" cy="841248"/>
          </a:xfrm>
          <a:prstGeom prst="ellipse">
            <a:avLst/>
          </a:prstGeom>
          <a:solidFill>
            <a:srgbClr val="13314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396" y="2843052"/>
            <a:ext cx="403799" cy="40379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43800" y="2587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Portal-managed &amp; composable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7543800" y="2990088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B9C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Foundry PromptAgentDefinitions, visible and editable in the portal. Add an agent in profile.yaml and re-seed.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4114800"/>
            <a:ext cx="5394960" cy="1572768"/>
          </a:xfrm>
          <a:prstGeom prst="rect">
            <a:avLst/>
          </a:prstGeom>
          <a:solidFill>
            <a:srgbClr val="0E3252"/>
          </a:solidFill>
          <a:ln w="12700">
            <a:solidFill>
              <a:srgbClr val="1C4A7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96112" y="4407408"/>
            <a:ext cx="841248" cy="841248"/>
          </a:xfrm>
          <a:prstGeom prst="ellipse">
            <a:avLst/>
          </a:prstGeom>
          <a:solidFill>
            <a:srgbClr val="13314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836" y="4626132"/>
            <a:ext cx="403799" cy="40379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920240" y="43708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Watchable orchestration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920240" y="4773168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B9C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every hop, and every replan stream live to the trace UI — the manager's reasoning is observable, not a black box.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63640" y="4114800"/>
            <a:ext cx="5394960" cy="1572768"/>
          </a:xfrm>
          <a:prstGeom prst="rect">
            <a:avLst/>
          </a:prstGeom>
          <a:solidFill>
            <a:srgbClr val="0E3252"/>
          </a:solidFill>
          <a:ln w="12700">
            <a:solidFill>
              <a:srgbClr val="1C4A7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519672" y="4407408"/>
            <a:ext cx="841248" cy="841248"/>
          </a:xfrm>
          <a:prstGeom prst="ellipse">
            <a:avLst/>
          </a:prstGeom>
          <a:solidFill>
            <a:srgbClr val="13314F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8396" y="4626132"/>
            <a:ext cx="403799" cy="40379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543800" y="43708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Scales by configuration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7543800" y="4773168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B9C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 spans a 1-hop spot-check to a 10-agent fan-out. Whitelists and caps keep narrow scenarios narrow.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Microsoft Agent Framework · Azure AI Foundry (Agents Service + Foundry IQ) · Azure SQL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MMC Multi-Agent Manufacturing Assistant</dc:title>
  <dc:subject>PptxGenJS Presentation</dc:subject>
  <dc:creator>Microsoft · MMC demo</dc:creator>
  <cp:lastModifiedBy>Microsoft · MMC demo</cp:lastModifiedBy>
  <cp:revision>1</cp:revision>
  <dcterms:created xsi:type="dcterms:W3CDTF">2026-06-18T13:57:17Z</dcterms:created>
  <dcterms:modified xsi:type="dcterms:W3CDTF">2026-06-18T13:57:17Z</dcterms:modified>
</cp:coreProperties>
</file>